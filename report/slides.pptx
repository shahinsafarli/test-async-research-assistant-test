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0D4F6E">
              <a:alpha val="25000"/>
            </a:srgbClr>
          </a:solidFill>
          <a:ln w="12700">
            <a:solidFill>
              <a:srgbClr val="0D4F6E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4747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AIENG Final Project  ·  Topic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417320"/>
            <a:ext cx="73152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Async Research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2240280"/>
            <a:ext cx="7315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Assistant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411480" y="39776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Shahin Safarli   ·   Jeyhuna Sevdiyeva   ·   Emil Jafarov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1480" y="4279392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2026-05-23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28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114800" cy="621792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402336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7043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0976" y="1060704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&amp; Motivation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50976" y="1316736"/>
            <a:ext cx="3520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async research matters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73936"/>
            <a:ext cx="4114800" cy="621792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73936"/>
            <a:ext cx="402336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93852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50976" y="1828800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50976" y="2084832"/>
            <a:ext cx="3520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High-level design overview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42032"/>
            <a:ext cx="4114800" cy="621792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542032"/>
            <a:ext cx="402336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70662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50976" y="2596896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Layer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50976" y="2852928"/>
            <a:ext cx="3520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Fetchers, providers, synthesizer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10128"/>
            <a:ext cx="4114800" cy="621792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310128"/>
            <a:ext cx="402336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47472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50976" y="3364992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Concurrency Pipeline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50976" y="3621024"/>
            <a:ext cx="3520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asyncio.gather + graceful degradation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078224"/>
            <a:ext cx="4114800" cy="621792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078224"/>
            <a:ext cx="402336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424281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0976" y="4133088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 Layer Components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50976" y="4389120"/>
            <a:ext cx="3520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 · Cache · CLI · Storage · Docker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1005840"/>
            <a:ext cx="4114800" cy="621792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1005840"/>
            <a:ext cx="402336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117043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94376" y="1060704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 Benchmarks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294376" y="1316736"/>
            <a:ext cx="3520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Sequential vs concurrent timing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1773936"/>
            <a:ext cx="4114800" cy="621792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1773936"/>
            <a:ext cx="402336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8888" y="193852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94376" y="1828800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 &amp; Coverage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294376" y="2084832"/>
            <a:ext cx="3520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 tests · 86% coverage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2542032"/>
            <a:ext cx="4114800" cy="621792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0600" y="2542032"/>
            <a:ext cx="402336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18888" y="270662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94376" y="2596896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Contributions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294376" y="2852928"/>
            <a:ext cx="3520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PRs, roles, git workflow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00600" y="3310128"/>
            <a:ext cx="4114800" cy="621792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00600" y="3310128"/>
            <a:ext cx="402336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18888" y="347472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294376" y="3364992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 &amp; Live Output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5294376" y="3621024"/>
            <a:ext cx="3520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Offline demo run results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00600" y="4078224"/>
            <a:ext cx="4114800" cy="621792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00600" y="4078224"/>
            <a:ext cx="402336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18888" y="424281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294376" y="4133088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 &amp; Takeaways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5294376" y="4389120"/>
            <a:ext cx="3520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built and learned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 ·  Problem &amp; 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Research Question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49808"/>
          </a:xfrm>
          <a:prstGeom prst="rect">
            <a:avLst/>
          </a:prstGeom>
          <a:solidFill>
            <a:srgbClr val="112236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45720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52144"/>
            <a:ext cx="786384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user poses a research question. The system must query Wikipedia, arXiv, and a web-search API, then synthesise a single cited answer.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651760" cy="164592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2140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2542032"/>
            <a:ext cx="2423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Sequential Latency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66928" y="2834640"/>
            <a:ext cx="2423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sources × ~400 ms each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~1.2 s minimum wait time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55848" y="2011680"/>
            <a:ext cx="2651760" cy="164592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212140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65576" y="2542032"/>
            <a:ext cx="2423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Fault Isolation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65576" y="2834640"/>
            <a:ext cx="2423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failed source crashes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entire pipeline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54496" y="2011680"/>
            <a:ext cx="2651760" cy="164592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12140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2542032"/>
            <a:ext cx="2423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Repeated API Calls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64224" y="2834640"/>
            <a:ext cx="2423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query hits remote APIs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 every single request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822192"/>
            <a:ext cx="8229600" cy="566928"/>
          </a:xfrm>
          <a:prstGeom prst="rect">
            <a:avLst/>
          </a:prstGeom>
          <a:solidFill>
            <a:srgbClr val="0D4F6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94360" y="3895344"/>
            <a:ext cx="78638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Solution: asyncio.gather  +  TTL caching  +  graceful degradation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 ·  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" cy="475488"/>
          </a:xfrm>
          <a:prstGeom prst="roundRect">
            <a:avLst>
              <a:gd name="adj" fmla="val 1153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15568"/>
            <a:ext cx="1005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554480" y="1243584"/>
            <a:ext cx="201168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1170432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55648" y="1078992"/>
            <a:ext cx="1920240" cy="475488"/>
          </a:xfrm>
          <a:prstGeom prst="roundRect">
            <a:avLst>
              <a:gd name="adj" fmla="val 11538"/>
            </a:avLst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01368" y="1115568"/>
            <a:ext cx="18288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 / Streamlit UI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75888" y="1243584"/>
            <a:ext cx="201168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67328" y="1170432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77056" y="1078992"/>
            <a:ext cx="1828800" cy="475488"/>
          </a:xfrm>
          <a:prstGeom prst="roundRect">
            <a:avLst>
              <a:gd name="adj" fmla="val 11538"/>
            </a:avLst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22776" y="1115568"/>
            <a:ext cx="17373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ResearchEngine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05856" y="1243584"/>
            <a:ext cx="201168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97296" y="1170432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07024" y="1078992"/>
            <a:ext cx="2011680" cy="475488"/>
          </a:xfrm>
          <a:prstGeom prst="roundRect">
            <a:avLst>
              <a:gd name="adj" fmla="val 11538"/>
            </a:avLst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52744" y="1115568"/>
            <a:ext cx="19202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 / PostgreSQL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78608" y="1664208"/>
            <a:ext cx="36576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37920" y="2011680"/>
            <a:ext cx="4125595" cy="457200"/>
          </a:xfrm>
          <a:prstGeom prst="roundRect">
            <a:avLst>
              <a:gd name="adj" fmla="val 12000"/>
            </a:avLst>
          </a:prstGeom>
          <a:solidFill>
            <a:srgbClr val="0D4F6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17320" y="2048256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  ResearchOrchestrator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315085" y="2475865"/>
            <a:ext cx="36576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2125" y="2859913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7845" y="2878201"/>
            <a:ext cx="16002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🌐 Wikipedia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 API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054350" y="2487295"/>
            <a:ext cx="36576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31390" y="2871343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77110" y="2889631"/>
            <a:ext cx="16002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arXiv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Atom API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89170" y="2487295"/>
            <a:ext cx="36576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66210" y="2871343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11930" y="2889631"/>
            <a:ext cx="16002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🔍 Web Search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Tavily/DDG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645920" y="3694430"/>
            <a:ext cx="3108960" cy="475488"/>
          </a:xfrm>
          <a:prstGeom prst="roundRect">
            <a:avLst>
              <a:gd name="adj" fmla="val 11538"/>
            </a:avLst>
          </a:prstGeom>
          <a:solidFill>
            <a:srgbClr val="0D4F6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91640" y="3740150"/>
            <a:ext cx="3017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🤖  LLM Synthesizer  →  Answer + [N] citations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55410" y="1884045"/>
            <a:ext cx="2377440" cy="272669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46850" y="1938909"/>
            <a:ext cx="2194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Cross-Cutting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46850" y="2231517"/>
            <a:ext cx="2148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InMemory / File Cache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546850" y="2533269"/>
            <a:ext cx="2148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Retries + Backoff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546850" y="2835021"/>
            <a:ext cx="2148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Structured Logging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546850" y="3136773"/>
            <a:ext cx="2148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Pydantic Validation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546850" y="3484245"/>
            <a:ext cx="2194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Providers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46850" y="3731133"/>
            <a:ext cx="2148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Anthropic Claude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546850" y="3987165"/>
            <a:ext cx="2148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OpenAI GPT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546850" y="4243197"/>
            <a:ext cx="2148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Google Gemini</a:t>
            </a:r>
            <a:endParaRPr lang="en-US" sz="1050" dirty="0"/>
          </a:p>
        </p:txBody>
      </p:sp>
      <p:sp>
        <p:nvSpPr>
          <p:cNvPr id="44" name="Shape 8"/>
          <p:cNvSpPr/>
          <p:nvPr/>
        </p:nvSpPr>
        <p:spPr>
          <a:xfrm rot="5400000">
            <a:off x="3099943" y="3513709"/>
            <a:ext cx="201168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Text 9"/>
          <p:cNvSpPr/>
          <p:nvPr/>
        </p:nvSpPr>
        <p:spPr>
          <a:xfrm rot="5400000">
            <a:off x="2998470" y="3566795"/>
            <a:ext cx="389255" cy="4476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 ·  AI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Provided ai/ Module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329184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265176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17043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5488" y="1609344"/>
            <a:ext cx="24231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Fetchers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1956816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fetch_wikipedia(query)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359152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fetch_arxiv(query)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2761488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fetch_web(query)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3163824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Shared httpx.AsyncClient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3566160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Returns list[Source]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0" y="1097280"/>
            <a:ext cx="2651760" cy="329184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0" y="1097280"/>
            <a:ext cx="265176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170432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10128" y="1609344"/>
            <a:ext cx="24231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Synthesizer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337560" y="1956816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synthesize(question, sources)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337560" y="2359152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Produces 3–6 sentence answer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337560" y="2761488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Inline [N] citations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337560" y="3163824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Drops hallucinated indices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337560" y="3566160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Returns AnswerWithCitations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035040" y="1097280"/>
            <a:ext cx="2651760" cy="329184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035040" y="1097280"/>
            <a:ext cx="265176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70432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144768" y="1609344"/>
            <a:ext cx="24231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Provider Abstraction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172200" y="1956816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Anthropic / OpenAI / Gemini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172200" y="2359152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Selected via env vars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172200" y="2761488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LLM_PROVIDER=anthropic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172200" y="3163824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EMBEDDING_PROVIDER=openai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172200" y="3566160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Zero code changes to swap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1A0A00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02920" y="4535424"/>
            <a:ext cx="8229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07B3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⛔  Contract: ai/ is read-only — SE logic calls through ai.fetch_wikipedia, ai.fetch_arxiv, ai.fetch_web, ai.synthesize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8"/>
          <p:cNvSpPr/>
          <p:nvPr/>
        </p:nvSpPr>
        <p:spPr>
          <a:xfrm>
            <a:off x="3255010" y="2795270"/>
            <a:ext cx="1213485" cy="658495"/>
          </a:xfrm>
          <a:prstGeom prst="roundRect">
            <a:avLst>
              <a:gd name="adj" fmla="val 8333"/>
            </a:avLst>
          </a:prstGeom>
          <a:solidFill>
            <a:srgbClr val="0D4F6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Shape 8"/>
          <p:cNvSpPr/>
          <p:nvPr/>
        </p:nvSpPr>
        <p:spPr>
          <a:xfrm>
            <a:off x="1806575" y="2795270"/>
            <a:ext cx="1231900" cy="658495"/>
          </a:xfrm>
          <a:prstGeom prst="roundRect">
            <a:avLst>
              <a:gd name="adj" fmla="val 8333"/>
            </a:avLst>
          </a:prstGeom>
          <a:solidFill>
            <a:srgbClr val="0D4F6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 ·  Concurrency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asyncio.gather with Per-Source Timeouts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4114800" cy="566928"/>
          </a:xfrm>
          <a:prstGeom prst="roundRect">
            <a:avLst>
              <a:gd name="adj" fmla="val 9677"/>
            </a:avLst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115568"/>
            <a:ext cx="3913632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3120" y="166420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947672"/>
            <a:ext cx="4114800" cy="566928"/>
          </a:xfrm>
          <a:prstGeom prst="roundRect">
            <a:avLst>
              <a:gd name="adj" fmla="val 9677"/>
            </a:avLst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984248"/>
            <a:ext cx="3913632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run_concurrent(tasks, max_concurrent=5)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03120" y="253288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90525" y="2795270"/>
            <a:ext cx="1210945" cy="658495"/>
          </a:xfrm>
          <a:prstGeom prst="roundRect">
            <a:avLst>
              <a:gd name="adj" fmla="val 8333"/>
            </a:avLst>
          </a:prstGeom>
          <a:solidFill>
            <a:srgbClr val="0D4F6E"/>
          </a:solidFill>
          <a:ln w="12700">
            <a:solidFill>
              <a:srgbClr val="06B6D4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633" y="2804668"/>
            <a:ext cx="3913632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7E8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Wikipedia ⏱ 5s                     arXiv ⏱ 8s                     Web ⏱ 10s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103120" y="3489833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685032"/>
            <a:ext cx="4114800" cy="566928"/>
          </a:xfrm>
          <a:prstGeom prst="roundRect">
            <a:avLst>
              <a:gd name="adj" fmla="val 9677"/>
            </a:avLst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721608"/>
            <a:ext cx="3913632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Synthesizer  →  Answer + [N] citations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078992"/>
            <a:ext cx="4023360" cy="82296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261872"/>
            <a:ext cx="365760" cy="3657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376672" y="1170432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asyncio.gather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376672" y="1444752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three sources fire simultaneously inside a semaphore-bounded gather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54880" y="2066544"/>
            <a:ext cx="4023360" cy="82296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249424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76672" y="2157984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Graceful Degradation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376672" y="2432304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return_exceptions=True — one timeout won't kill the whole answer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754880" y="3054096"/>
            <a:ext cx="4023360" cy="82296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236976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376672" y="3145536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Connection Reuse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376672" y="3419856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httpx.AsyncClient shared across all three fetchers per request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4754880" y="4041648"/>
            <a:ext cx="4023360" cy="82296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4224528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376672" y="4133088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arXiv Web Fallback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376672" y="4407408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Atom returns empty, falls back to site:arxiv.org web search</a:t>
            </a:r>
            <a:endParaRPr lang="en-US" sz="1000" dirty="0"/>
          </a:p>
        </p:txBody>
      </p:sp>
      <p:sp>
        <p:nvSpPr>
          <p:cNvPr id="35" name="Text 7"/>
          <p:cNvSpPr/>
          <p:nvPr/>
        </p:nvSpPr>
        <p:spPr>
          <a:xfrm>
            <a:off x="767080" y="253288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400" dirty="0"/>
          </a:p>
        </p:txBody>
      </p:sp>
      <p:sp>
        <p:nvSpPr>
          <p:cNvPr id="36" name="Text 7"/>
          <p:cNvSpPr/>
          <p:nvPr/>
        </p:nvSpPr>
        <p:spPr>
          <a:xfrm>
            <a:off x="3633470" y="2557653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 ·  SE Layer Components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the Team Built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591056" cy="17830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1591056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40817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config.py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40817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pydantic-settings, env-driven typed config, all provider keys + timeouts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66544" y="1005840"/>
            <a:ext cx="1591056" cy="17830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66544" y="1005840"/>
            <a:ext cx="1591056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57984" y="1097280"/>
            <a:ext cx="140817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models.py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57984" y="1463040"/>
            <a:ext cx="140817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QuestionRequest · ResearchResult · CitationRecord — full Pydantic validation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67328" y="1005840"/>
            <a:ext cx="1591056" cy="17830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67328" y="1005840"/>
            <a:ext cx="1591056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58768" y="1097280"/>
            <a:ext cx="140817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cache.py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58768" y="1463040"/>
            <a:ext cx="140817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InMemoryCache + FilesystemCache, TTL-aware (source, query), canonicalized keys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68112" y="1005840"/>
            <a:ext cx="1591056" cy="17830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68112" y="1005840"/>
            <a:ext cx="1591056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59552" y="1097280"/>
            <a:ext cx="140817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ai_service.py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559552" y="1463040"/>
            <a:ext cx="140817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Tenacity retry + backoff, per-call timeouts, rate-limit wrapper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68896" y="1005840"/>
            <a:ext cx="1591056" cy="17830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68896" y="1005840"/>
            <a:ext cx="1591056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0336" y="1097280"/>
            <a:ext cx="140817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researcher.py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260336" y="1463040"/>
            <a:ext cx="140817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ResearchEngine — Fetch → Synthesize → Persist, history via repository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944368"/>
            <a:ext cx="1591056" cy="17830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944368"/>
            <a:ext cx="1591056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035808"/>
            <a:ext cx="140817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cli.py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3401568"/>
            <a:ext cx="140817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CLI: ask · history, --sources · --no-cache flags, citation rendering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066544" y="2944368"/>
            <a:ext cx="1591056" cy="17830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66544" y="2944368"/>
            <a:ext cx="1591056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57984" y="3035808"/>
            <a:ext cx="140817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repository.py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157984" y="3401568"/>
            <a:ext cx="140817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BaseRepository ABC, SQLiteRepository (aiosqlite), PostgreSQLRepository (asyncpg)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767328" y="2944368"/>
            <a:ext cx="1591056" cy="17830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67328" y="2944368"/>
            <a:ext cx="1591056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58768" y="3035808"/>
            <a:ext cx="140817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Dockerfile + docker-compose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858768" y="3401568"/>
            <a:ext cx="140817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Multi-stage build, postgres:16-alpine service, healthcheck + wait-for-db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68112" y="2944368"/>
            <a:ext cx="1591056" cy="17830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68112" y="2944368"/>
            <a:ext cx="1591056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59552" y="3035808"/>
            <a:ext cx="140817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app.py (Streamlit)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559552" y="3401568"/>
            <a:ext cx="140817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Bonus web UI — ask questions interactively, history sidebar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168896" y="2944368"/>
            <a:ext cx="1591056" cy="17830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68896" y="2944368"/>
            <a:ext cx="1591056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60336" y="3035808"/>
            <a:ext cx="140817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 (GitHub Actions)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260336" y="3401568"/>
            <a:ext cx="140817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ruff lint + mypy types, pytest + coverage gate, docker build check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 ·  Caching Deep-Dive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TTL-Aware Source Cache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2377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25880" y="137160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377440" cy="420624"/>
          </a:xfrm>
          <a:prstGeom prst="roundRect">
            <a:avLst>
              <a:gd name="adj" fmla="val 10870"/>
            </a:avLst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8191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canonicalize_query()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325880" y="196596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2377440" cy="420624"/>
          </a:xfrm>
          <a:prstGeom prst="roundRect">
            <a:avLst>
              <a:gd name="adj" fmla="val 10870"/>
            </a:avLst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17627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Cache lookup (source, key)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25880" y="256032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2377440" cy="420624"/>
          </a:xfrm>
          <a:prstGeom prst="roundRect">
            <a:avLst>
              <a:gd name="adj" fmla="val 10870"/>
            </a:avLst>
          </a:prstGeom>
          <a:solidFill>
            <a:srgbClr val="0D4F6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77063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7E8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HIT → return [Source]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25880" y="315468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337560"/>
            <a:ext cx="2377440" cy="420624"/>
          </a:xfrm>
          <a:prstGeom prst="roundRect">
            <a:avLst>
              <a:gd name="adj" fmla="val 10870"/>
            </a:avLst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36499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 → fetch from API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25880" y="3749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931920"/>
            <a:ext cx="2377440" cy="420624"/>
          </a:xfrm>
          <a:prstGeom prst="roundRect">
            <a:avLst>
              <a:gd name="adj" fmla="val 10870"/>
            </a:avLst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95935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(source, key, TTL)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063240" y="1051560"/>
            <a:ext cx="2560320" cy="164592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72968" y="1143000"/>
            <a:ext cx="2331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InMemoryCache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172968" y="1472184"/>
            <a:ext cx="2331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Python dict + timestamps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172968" y="1773936"/>
            <a:ext cx="2331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TTL per entry (default 300 s)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172968" y="2075688"/>
            <a:ext cx="2331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Configurable via settings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172968" y="2377440"/>
            <a:ext cx="2331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Thread-safe for asyncio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063240" y="2971800"/>
            <a:ext cx="2560320" cy="164592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72968" y="3063240"/>
            <a:ext cx="2331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FilesystemCache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172968" y="3392424"/>
            <a:ext cx="2331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JSON files, keyed by hash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172968" y="3694176"/>
            <a:ext cx="2331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Persists across restarts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172968" y="3995928"/>
            <a:ext cx="2331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--no-cache bypasses both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172968" y="4297680"/>
            <a:ext cx="2331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ABC for easy extension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852160" y="1051560"/>
            <a:ext cx="3017520" cy="3566160"/>
          </a:xfrm>
          <a:prstGeom prst="rect">
            <a:avLst/>
          </a:prstGeom>
          <a:solidFill>
            <a:srgbClr val="0A0E1A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89320" y="1143000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Cache Key Construction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89320" y="1463040"/>
            <a:ext cx="2697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E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canonicalize_query(q):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989320" y="1719072"/>
            <a:ext cx="2697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E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q = q.lower().strip()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989320" y="1975104"/>
            <a:ext cx="2697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E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q = re.sub(r"\s+", " ", q)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989320" y="2231136"/>
            <a:ext cx="2697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E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q = q.rstrip("?!.")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989320" y="2487168"/>
            <a:ext cx="2697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E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return q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989320" y="2999232"/>
            <a:ext cx="2697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E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key = (source, canonical)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989320" y="3511296"/>
            <a:ext cx="2697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Same result for: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989320" y="3767328"/>
            <a:ext cx="2697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"WHAT IS PHOTOSYNTHESIS?"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989320" y="4023360"/>
            <a:ext cx="2697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"what is photosynthesis"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989320" y="4279392"/>
            <a:ext cx="2697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"What is photosynthesis?"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 ·  Performance Benchmarks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Sequential vs Concurrent — Consistent 3× Speedup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65960" cy="1005840"/>
          </a:xfrm>
          <a:prstGeom prst="rect">
            <a:avLst/>
          </a:prstGeom>
          <a:solidFill>
            <a:srgbClr val="112236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33856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7E8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3.0×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664208"/>
            <a:ext cx="1965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Speedup (all runs)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42032" y="1097280"/>
            <a:ext cx="1965960" cy="100584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42032" y="1133856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0.50s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542032" y="1664208"/>
            <a:ext cx="1965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Concurrent (5 Qs)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18304" y="1097280"/>
            <a:ext cx="1965960" cy="100584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1133856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1.50s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718304" y="1664208"/>
            <a:ext cx="1965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Sequential (5 Qs)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94576" y="1097280"/>
            <a:ext cx="1965960" cy="100584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94576" y="1133856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86%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894576" y="1664208"/>
            <a:ext cx="1965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Coverage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365760" y="2331720"/>
          <a:ext cx="8412480" cy="210312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1828800"/>
                <a:gridCol w="1828800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Network Simulation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Sequential (s)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Concurrent (s)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Speedup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6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EF4"/>
                          </a:solidFill>
                        </a:rPr>
                        <a:t>Fast  (delay=0.05 s)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EF4"/>
                          </a:solidFill>
                        </a:rPr>
                        <a:t>0.753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EF4"/>
                          </a:solidFill>
                        </a:rPr>
                        <a:t>0.252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7E8F9"/>
                          </a:solidFill>
                        </a:rPr>
                        <a:t>3.0×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EF4"/>
                          </a:solidFill>
                        </a:rPr>
                        <a:t>Typical (delay=0.10 s)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EF4"/>
                          </a:solidFill>
                        </a:rPr>
                        <a:t>1.505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EF4"/>
                          </a:solidFill>
                        </a:rPr>
                        <a:t>0.502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7E8F9"/>
                          </a:solidFill>
                        </a:rPr>
                        <a:t>3.0×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EF4"/>
                          </a:solidFill>
                        </a:rPr>
                        <a:t>Slow  (delay=0.15 s)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EF4"/>
                          </a:solidFill>
                        </a:rPr>
                        <a:t>2.255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EF4"/>
                          </a:solidFill>
                        </a:rPr>
                        <a:t>0.752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7E8F9"/>
                          </a:solidFill>
                        </a:rPr>
                        <a:t>3.0×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EF4"/>
                          </a:solidFill>
                        </a:rPr>
                        <a:t>Large batch N=10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EF4"/>
                          </a:solidFill>
                        </a:rPr>
                        <a:t>1.504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EF4"/>
                          </a:solidFill>
                        </a:rPr>
                        <a:t>0.502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7E8F9"/>
                          </a:solidFill>
                        </a:rPr>
                        <a:t>3.0×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365760" y="4754880"/>
            <a:ext cx="8412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scripts/bench.py --n 5 --offline --delay 0.10   ·   Semaphore MAX_CONCURRENT=5   ·   Sources: wiki + arxiv + web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  ·  Testing &amp; Coverage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 Tests Passed  ·  86% Coverage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402336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15568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96112" y="1124712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test_ai_smoke.py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1335024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schema, synthesizer, citation indices, web provider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591056"/>
            <a:ext cx="402336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91056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160020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test_cli.py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96112" y="1810512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ask/history commands, invalid inputs, displayed output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066544"/>
            <a:ext cx="402336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066544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96112" y="207568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test_concurrency.py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96112" y="228600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gather, semaphore, orchestrator, degradation, cache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542032"/>
            <a:ext cx="402336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42032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6112" y="255117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test_config.py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96112" y="2761488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env export, provider selection from settings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402336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017520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6112" y="3026664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test_researcher.py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96112" y="3236976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pipeline, persistence, graceful no-source error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493008"/>
            <a:ext cx="402336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93008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96112" y="3502152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test_search_query.py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96112" y="3712464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Strip prefix, arXiv API query, multi-term normalisation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968496"/>
            <a:ext cx="402336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968496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96112" y="397764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test_service.py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96112" y="4187952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Fetch mocks, synthesize, retries, provider errors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4443984"/>
            <a:ext cx="402336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443984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96112" y="445312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test_storage.py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96112" y="466344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TTL, filesystem, SQLite repo, factory, PostgreSQL select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349240" y="1078992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Coverage per Module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669155" y="1371727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95035" y="1417447"/>
            <a:ext cx="2377440" cy="1828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95035" y="1417447"/>
            <a:ext cx="216347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63915" y="1371727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69155" y="1774063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995035" y="1819783"/>
            <a:ext cx="2377440" cy="1828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95035" y="1819783"/>
            <a:ext cx="216347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63915" y="1774063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91%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669155" y="2176399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cache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995035" y="2222119"/>
            <a:ext cx="2377440" cy="1828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95035" y="2222119"/>
            <a:ext cx="2377440" cy="182880"/>
          </a:xfrm>
          <a:prstGeom prst="rect">
            <a:avLst/>
          </a:prstGeom>
          <a:solidFill>
            <a:srgbClr val="67E8F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63915" y="2176399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669155" y="2578735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995035" y="2624455"/>
            <a:ext cx="2377440" cy="1828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95035" y="2624455"/>
            <a:ext cx="2377440" cy="182880"/>
          </a:xfrm>
          <a:prstGeom prst="rect">
            <a:avLst/>
          </a:prstGeom>
          <a:solidFill>
            <a:srgbClr val="67E8F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63915" y="2578735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669155" y="2981071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researcher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995035" y="3026791"/>
            <a:ext cx="2377440" cy="1828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995035" y="3026791"/>
            <a:ext cx="1901952" cy="182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63915" y="2981071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80%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669155" y="3383407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ai_service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995035" y="3429127"/>
            <a:ext cx="2377440" cy="1828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995035" y="3429127"/>
            <a:ext cx="1973275" cy="182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63915" y="3383407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83%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669155" y="3785743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orchestrator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995035" y="3831463"/>
            <a:ext cx="2377440" cy="1828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995035" y="3831463"/>
            <a:ext cx="2092147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463915" y="3785743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88%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669155" y="4188079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storage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995035" y="4233799"/>
            <a:ext cx="2377440" cy="1828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995035" y="4233799"/>
            <a:ext cx="1616659" cy="182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463915" y="4188079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68%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669155" y="4590415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995035" y="4636135"/>
            <a:ext cx="2377440" cy="1828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995035" y="4636135"/>
            <a:ext cx="2044598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463915" y="4590415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86%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  ·  Team Contributions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Built What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388620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" y="1078992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7899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69848" y="111556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Shahin Safarli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69848" y="1371600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@shahinsafarli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" y="1719072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719072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~40%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2084832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src/config.py — pydantic-settings, env sync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9768" y="2505456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src/cli/ — Click CLI (ask, history)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9768" y="2926080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tests/ — unified offline test framework (81 tests)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9768" y="3346704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src/storage/postgres_repository.py — PostgreSQL backend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29768" y="3767328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Project scaffolding, .gitignore, PR template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29768" y="4187952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PRs: #1, #7, #9, #12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46120" y="1005840"/>
            <a:ext cx="2743200" cy="388620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20" y="1005840"/>
            <a:ext cx="2743200" cy="36576"/>
          </a:xfrm>
          <a:prstGeom prst="rect">
            <a:avLst/>
          </a:prstGeom>
          <a:solidFill>
            <a:srgbClr val="1D7A5F"/>
          </a:solidFill>
          <a:ln w="12700">
            <a:solidFill>
              <a:srgbClr val="1D7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55848" y="1078992"/>
            <a:ext cx="548640" cy="548640"/>
          </a:xfrm>
          <a:prstGeom prst="ellipse">
            <a:avLst/>
          </a:prstGeom>
          <a:solidFill>
            <a:srgbClr val="1D7A5F"/>
          </a:solidFill>
          <a:ln w="12700">
            <a:solidFill>
              <a:srgbClr val="1D7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5848" y="107899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995928" y="111556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Emil Jafarov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995928" y="1371600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@Emil-Jafarov-06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55848" y="1719072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1D7A5F"/>
          </a:solidFill>
          <a:ln w="12700">
            <a:solidFill>
              <a:srgbClr val="1D7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55848" y="1719072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~30%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55848" y="2084832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src/services/ai_service.py — retry/timeout wrapper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55848" y="2505456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src/concurrency/ — orchestrator + pipeline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55848" y="2926080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app/ — Streamlit web UI + Docker setup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55848" y="3346704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README.md — project overview &amp; setup guide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55848" y="3767328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docs/report — full project report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55848" y="4187952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PRs: #3, #6, #11, #13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72200" y="1005840"/>
            <a:ext cx="2743200" cy="388620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1005840"/>
            <a:ext cx="2743200" cy="36576"/>
          </a:xfrm>
          <a:prstGeom prst="rect">
            <a:avLst/>
          </a:prstGeom>
          <a:solidFill>
            <a:srgbClr val="5B3A8C"/>
          </a:solidFill>
          <a:ln w="12700">
            <a:solidFill>
              <a:srgbClr val="5B3A8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81928" y="1078992"/>
            <a:ext cx="548640" cy="548640"/>
          </a:xfrm>
          <a:prstGeom prst="ellipse">
            <a:avLst/>
          </a:prstGeom>
          <a:solidFill>
            <a:srgbClr val="5B3A8C"/>
          </a:solidFill>
          <a:ln w="12700">
            <a:solidFill>
              <a:srgbClr val="5B3A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81928" y="107899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922008" y="111556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Jeyhuna Sevdiyeva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922008" y="1371600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@Jeyhunaa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81928" y="1719072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5B3A8C"/>
          </a:solidFill>
          <a:ln w="12700">
            <a:solidFill>
              <a:srgbClr val="5B3A8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81928" y="1719072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~30%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81928" y="2084832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src/storage/ — SQLite repository (session persistence)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81928" y="2505456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src/services/cache_service.py — TTL cache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81928" y="2926080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src/utils/search_query.py + bench.py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81928" y="3346704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docs/architecture.md + demo.py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281928" y="3767328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Presentation slides + CONTRIBUTION_STATEMENT.md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281928" y="4187952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PRs: #2, #4, #5, #8, #14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  ·  Git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PR-Based Development  —  14 Pull Requests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365760" y="987552"/>
          <a:ext cx="8412480" cy="3794760"/>
        </p:xfrm>
        <a:graphic>
          <a:graphicData uri="http://schemas.openxmlformats.org/drawingml/2006/table">
            <a:tbl>
              <a:tblPr/>
              <a:tblGrid>
                <a:gridCol w="502920"/>
                <a:gridCol w="3200400"/>
                <a:gridCol w="1097280"/>
                <a:gridCol w="3611880"/>
              </a:tblGrid>
              <a:tr h="2529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PR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Branch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Author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Files Changed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6E"/>
                    </a:solidFill>
                  </a:tcPr>
                </a:tc>
              </a:tr>
              <a:tr h="2529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6B6D4"/>
                          </a:solidFill>
                        </a:rPr>
                        <a:t>#1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shahin/config-and-models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6B6D4"/>
                          </a:solidFill>
                        </a:rPr>
                        <a:t>Shahin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config.py + models.py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</a:tr>
              <a:tr h="2529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6B6D4"/>
                          </a:solidFill>
                        </a:rPr>
                        <a:t>#2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jeyhuna/architecture-docs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9B72D8"/>
                          </a:solidFill>
                        </a:rPr>
                        <a:t>Jeyhuna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docs/architecture.md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529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6B6D4"/>
                          </a:solidFill>
                        </a:rPr>
                        <a:t>#3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emil/ai-service-and-core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2ECDA6"/>
                          </a:solidFill>
                        </a:rPr>
                        <a:t>Emil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ai_service.py + researcher.py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</a:tr>
              <a:tr h="2529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6B6D4"/>
                          </a:solidFill>
                        </a:rPr>
                        <a:t>#4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jeyhuna/storage-layer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9B72D8"/>
                          </a:solidFill>
                        </a:rPr>
                        <a:t>Jeyhuna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repository.py (SQLite)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529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6B6D4"/>
                          </a:solidFill>
                        </a:rPr>
                        <a:t>#5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jeyhuna/cache-and-search-utils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9B72D8"/>
                          </a:solidFill>
                        </a:rPr>
                        <a:t>Jeyhuna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cache.py + search_query.py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</a:tr>
              <a:tr h="2529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6B6D4"/>
                          </a:solidFill>
                        </a:rPr>
                        <a:t>#6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emil/concurrency-and-researcher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2ECDA6"/>
                          </a:solidFill>
                        </a:rPr>
                        <a:t>Emil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orchestrator.py + pipeline.py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529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6B6D4"/>
                          </a:solidFill>
                        </a:rPr>
                        <a:t>#7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shahin/cli-and-entry-point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6B6D4"/>
                          </a:solidFill>
                        </a:rPr>
                        <a:t>Shahin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cli.py + __main__.py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</a:tr>
              <a:tr h="2529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6B6D4"/>
                          </a:solidFill>
                        </a:rPr>
                        <a:t>#8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jeyhuna/demo-script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9B72D8"/>
                          </a:solidFill>
                        </a:rPr>
                        <a:t>Jeyhuna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scripts/demo.py + bench.py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529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6B6D4"/>
                          </a:solidFill>
                        </a:rPr>
                        <a:t>#9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shahin/combined-testing-suite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6B6D4"/>
                          </a:solidFill>
                        </a:rPr>
                        <a:t>Shahin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All 8 test_*.py files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</a:tr>
              <a:tr h="2529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6B6D4"/>
                          </a:solidFill>
                        </a:rPr>
                        <a:t>#10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emil/streamlit-and-docker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2ECDA6"/>
                          </a:solidFill>
                        </a:rPr>
                        <a:t>Emil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app.py + Dockerfile + docker-compose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529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6B6D4"/>
                          </a:solidFill>
                        </a:rPr>
                        <a:t>#11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emil/concurrency-and-core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2ECDA6"/>
                          </a:solidFill>
                        </a:rPr>
                        <a:t>Emil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Orchestrator async core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</a:tr>
              <a:tr h="2529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6B6D4"/>
                          </a:solidFill>
                        </a:rPr>
                        <a:t>#12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shahin/postgres-storage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6B6D4"/>
                          </a:solidFill>
                        </a:rPr>
                        <a:t>Shahin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postgres_repository.py + asyncpg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529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6B6D4"/>
                          </a:solidFill>
                        </a:rPr>
                        <a:t>#13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emil/readme-and-report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2ECDA6"/>
                          </a:solidFill>
                        </a:rPr>
                        <a:t>Emil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README.md + docs/report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6"/>
                    </a:solidFill>
                  </a:tcPr>
                </a:tc>
              </a:tr>
              <a:tr h="2529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6B6D4"/>
                          </a:solidFill>
                        </a:rPr>
                        <a:t>#14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jeyhuna/presentation-and-contribution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9B72D8"/>
                          </a:solidFill>
                        </a:rPr>
                        <a:t>Jeyhuna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E2EEF4"/>
                          </a:solidFill>
                        </a:rPr>
                        <a:t>Presentation + CONTRIBUTION_STATEMENT.md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Rule: every PR reviewed by a teammate  ·  Never push direct to main  ·  Tag v1.0-final after PR #14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 ·  Docker &amp; Deployment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Deployment Modes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743200" cy="33832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27432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188720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5488" y="1664208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/ SQLite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" y="1975104"/>
            <a:ext cx="1371600" cy="237744"/>
          </a:xfrm>
          <a:prstGeom prst="roundRect">
            <a:avLst>
              <a:gd name="adj" fmla="val 15385"/>
            </a:avLst>
          </a:prstGeom>
          <a:solidFill>
            <a:srgbClr val="0D4F6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" y="1975104"/>
            <a:ext cx="13716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Fastest to start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5488" y="2304288"/>
            <a:ext cx="2514600" cy="694944"/>
          </a:xfrm>
          <a:prstGeom prst="rect">
            <a:avLst/>
          </a:prstGeom>
          <a:solidFill>
            <a:srgbClr val="070C18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350008"/>
            <a:ext cx="237744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pip install -r requirements.txt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 -m researcher ask "..."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75488" y="3090672"/>
            <a:ext cx="25146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Docker needed. SQLiteRepository auto-selected.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91840" y="1097280"/>
            <a:ext cx="2743200" cy="33832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91840" y="1097280"/>
            <a:ext cx="27432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188720"/>
            <a:ext cx="420624" cy="4206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01568" y="1664208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+ SQLite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3401568" y="1975104"/>
            <a:ext cx="1371600" cy="237744"/>
          </a:xfrm>
          <a:prstGeom prst="roundRect">
            <a:avLst>
              <a:gd name="adj" fmla="val 15385"/>
            </a:avLst>
          </a:prstGeom>
          <a:solidFill>
            <a:srgbClr val="0D4F6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401568" y="1975104"/>
            <a:ext cx="13716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Portable &amp; offline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401568" y="2304288"/>
            <a:ext cx="2514600" cy="694944"/>
          </a:xfrm>
          <a:prstGeom prst="rect">
            <a:avLst/>
          </a:prstGeom>
          <a:solidFill>
            <a:srgbClr val="070C18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474720" y="2350008"/>
            <a:ext cx="237744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docker build -t researcher 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docker run --env-file .env researcher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3401568" y="3090672"/>
            <a:ext cx="25146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container. Supports offline demo mode.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217920" y="1097280"/>
            <a:ext cx="2743200" cy="338328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217920" y="1097280"/>
            <a:ext cx="27432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188720"/>
            <a:ext cx="420624" cy="42062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27648" y="1664208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Compose + PostgreSQL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327648" y="1975104"/>
            <a:ext cx="1371600" cy="237744"/>
          </a:xfrm>
          <a:prstGeom prst="roundRect">
            <a:avLst>
              <a:gd name="adj" fmla="val 15385"/>
            </a:avLst>
          </a:prstGeom>
          <a:solidFill>
            <a:srgbClr val="0D4F6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327648" y="1975104"/>
            <a:ext cx="13716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Production mode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6327648" y="2304288"/>
            <a:ext cx="2514600" cy="694944"/>
          </a:xfrm>
          <a:prstGeom prst="rect">
            <a:avLst/>
          </a:prstGeom>
          <a:solidFill>
            <a:srgbClr val="070C18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400800" y="2350008"/>
            <a:ext cx="237744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docker compose up --build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postgres:16-alpine + app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6327648" y="3090672"/>
            <a:ext cx="25146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PostgreSQLRepository auto-selected via DATABASE_URL.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solidFill>
            <a:srgbClr val="0D4F6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02920" y="4636008"/>
            <a:ext cx="81381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get_repository() factory: sqlite+aiosqlite:// → SQLiteRepository    |    postgresql+asyncpg:// → PostgreSQLRepository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  ·  Demo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Offline Demo  —  5 Research Questions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603504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347472" cy="6035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61872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115214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photosynthesis and what are its main stages?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4672" y="1426464"/>
            <a:ext cx="6217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[1] Wikipedia  [2] arXiv  [3] Web   ·   elapsed ~3.5 s   ·   sources: 3   ·   failed: none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046720" y="1234440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7E8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~3.5 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8412480" cy="603504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828800"/>
            <a:ext cx="347472" cy="6035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93392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188366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do transformer-based language models handle long context windows?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04672" y="2157984"/>
            <a:ext cx="6217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[1] Wikipedia  [2] arXiv  [3] Web   ·   elapsed ~3.5 s   ·   sources: 3   ·   failed: none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046720" y="1965960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7E8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~3.5 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560320"/>
            <a:ext cx="8412480" cy="603504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560320"/>
            <a:ext cx="347472" cy="6035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24912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" y="261518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were the main causes of the 2008 financial crisis?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" y="2889504"/>
            <a:ext cx="6217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[1] Wikipedia  [2] arXiv  [3] Web   ·   elapsed ~3.5 s   ·   sources: 3   ·   failed: none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046720" y="2697480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7E8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~3.5 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291840"/>
            <a:ext cx="8412480" cy="603504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291840"/>
            <a:ext cx="347472" cy="6035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56432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" y="334670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the current state of fusion energy research?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4672" y="3621024"/>
            <a:ext cx="6217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[1] Wikipedia  [2] arXiv  [3] Web   ·   elapsed ~3.5 s   ·   sources: 3   ·   failed: none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046720" y="3429000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7E8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~3.5 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4023360"/>
            <a:ext cx="8412480" cy="603504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023360"/>
            <a:ext cx="347472" cy="6035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187952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4672" y="407822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does CRISPR-Cas9 gene editing work at a molecular level?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04672" y="4352544"/>
            <a:ext cx="6217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[1] Wikipedia  [2] arXiv  [3] Web   ·   elapsed ~3.5 s   ·   sources: 3   ·   failed: none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046720" y="4160520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7E8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~3.5 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5760" y="4800600"/>
            <a:ext cx="8412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wall-clock: 17.8 s for 5 questions   ·   python scripts/demo.py --offline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 ·  Summary &amp; 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Built &amp; What We Learned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68807"/>
            <a:ext cx="3840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Deliverables Completed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" y="1161669"/>
            <a:ext cx="3977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asyncio.gather with per-source timeouts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463421"/>
            <a:ext cx="3977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Graceful degradation (return_exceptions=True)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765173"/>
            <a:ext cx="3977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InMemory + Filesystem TTL cache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2066925"/>
            <a:ext cx="3977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Click CLI: ask / history commands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368677"/>
            <a:ext cx="3977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Pydantic validation at every layer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670429"/>
            <a:ext cx="3977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Exponential backoff via tenacity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972181"/>
            <a:ext cx="3977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SQLite + PostgreSQL dual-backend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3273933"/>
            <a:ext cx="3977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docker-compose with postgres:16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3575685"/>
            <a:ext cx="3977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Streamlit web UI (bonus)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3877437"/>
            <a:ext cx="3977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GitHub Actions CI (lint + test + build)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4179189"/>
            <a:ext cx="3977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81 tests · 86% coverage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4480941"/>
            <a:ext cx="3977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LaTeX report + slides + artefacts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63440" y="1078992"/>
            <a:ext cx="4160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Engineering Lessons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663440" y="1426464"/>
            <a:ext cx="4160520" cy="749808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161669"/>
            <a:ext cx="36576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1490472"/>
            <a:ext cx="39319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◆  asyncio is not a silver bullet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73168" y="1746504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gather helps, but timeouts per-task are essential to avoid head-of-line blocking.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286000"/>
            <a:ext cx="4160520" cy="749808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021205"/>
            <a:ext cx="36576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2350008"/>
            <a:ext cx="39319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◆  Cache keys need canonicalisation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73168" y="2606040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Upper/lower, trailing punctuation — small differences bypass caches silently.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145536"/>
            <a:ext cx="4160520" cy="749808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880741"/>
            <a:ext cx="36576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3209544"/>
            <a:ext cx="39319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◆  Composition &gt; Inheritance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773168" y="3465576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Injecting ai_svc, cache, repo makes ResearchEngine fully testable offline.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4005072"/>
            <a:ext cx="4160520" cy="749808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3740277"/>
            <a:ext cx="36576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4069080"/>
            <a:ext cx="39319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◆  Mock the boundary, not the logic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773168" y="4325112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respx + pytest-httpx mock HTTP; the orchestrator logic itself runs for real.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773168"/>
            <a:ext cx="8412480" cy="22860"/>
          </a:xfrm>
          <a:prstGeom prst="rect">
            <a:avLst/>
          </a:prstGeom>
          <a:solidFill>
            <a:srgbClr val="0F3352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828032"/>
            <a:ext cx="8412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github.com/shahinsafarli/async-research-assistant   ·   Tag: v1.0-final   ·   2026-05-23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731520"/>
            <a:ext cx="5029200" cy="5029200"/>
          </a:xfrm>
          <a:prstGeom prst="ellipse">
            <a:avLst/>
          </a:prstGeom>
          <a:solidFill>
            <a:srgbClr val="0D4F6E">
              <a:alpha val="20000"/>
            </a:srgbClr>
          </a:solidFill>
          <a:ln w="12700">
            <a:solidFill>
              <a:srgbClr val="0D4F6E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0080"/>
            <a:ext cx="54864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3657600" cy="54864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395728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Shahin Safarli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2642616"/>
            <a:ext cx="3383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@shahinsafarli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3026664"/>
            <a:ext cx="3657600" cy="54864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90672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Jeyhuna Sevdiyeva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3337560"/>
            <a:ext cx="3383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@Jeyhunaa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721608"/>
            <a:ext cx="3657600" cy="548640"/>
          </a:xfrm>
          <a:prstGeom prst="rect">
            <a:avLst/>
          </a:prstGeom>
          <a:solidFill>
            <a:srgbClr val="112236"/>
          </a:solidFill>
          <a:ln w="12700">
            <a:solidFill>
              <a:srgbClr val="0F33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785616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Emil Jafarov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4032504"/>
            <a:ext cx="3383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@Emil-Jafarov-06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4572000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github.com/shahinsafarli/async-research-assistant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6400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tag: v1.0-final   ·   Topic 4 — AIENG Final Project   ·   2026-05-23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10108</Words>
  <Application>WPS Presentation</Application>
  <PresentationFormat>On-screen Show (16:9)</PresentationFormat>
  <Paragraphs>829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WPS_1779549629</cp:lastModifiedBy>
  <cp:revision>2</cp:revision>
  <dcterms:created xsi:type="dcterms:W3CDTF">2026-05-23T14:41:00Z</dcterms:created>
  <dcterms:modified xsi:type="dcterms:W3CDTF">2026-05-23T15:20:38Z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E5D2F5936FDD447A888C63D7865D1C5B_13</vt:lpwstr>
  </property>
</Properties>
</file>